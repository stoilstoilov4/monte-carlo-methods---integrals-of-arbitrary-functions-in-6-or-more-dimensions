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7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9456" y="914399"/>
            <a:ext cx="9369835" cy="3391987"/>
          </a:xfrm>
        </p:spPr>
        <p:txBody>
          <a:bodyPr>
            <a:normAutofit/>
          </a:bodyPr>
          <a:lstStyle/>
          <a:p>
            <a:r>
              <a:rPr lang="bg-BG" dirty="0"/>
              <a:t>Методи на Монте Карло - Интеграли на произволни   функции с 6 и повече измерения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От Мартин Кънев 471223018 и стоил стоилов 471223034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18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Въведение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Численото интегриране е важен инструмент в приложната математика и научните изчисления.</a:t>
            </a:r>
          </a:p>
          <a:p>
            <a:r>
              <a:rPr lang="ru-RU" dirty="0"/>
              <a:t>Използва се при задачи, в които интегралът не може да бъде намерен аналитично.</a:t>
            </a:r>
          </a:p>
          <a:p>
            <a:r>
              <a:rPr lang="ru-RU" dirty="0"/>
              <a:t>Многомерните интеграли се срещат във физика, статистика, инженерство и компютърни симулации.</a:t>
            </a:r>
          </a:p>
          <a:p>
            <a:r>
              <a:rPr lang="ru-RU" dirty="0"/>
              <a:t>При висока размерност задачата става значително по-трудна. </a:t>
            </a:r>
          </a:p>
        </p:txBody>
      </p:sp>
    </p:spTree>
    <p:extLst>
      <p:ext uri="{BB962C8B-B14F-4D97-AF65-F5344CB8AC3E}">
        <p14:creationId xmlns:p14="http://schemas.microsoft.com/office/powerpoint/2010/main" val="19574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 при интеграли с 6+ измерения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 </a:t>
            </a:r>
            <a:r>
              <a:rPr lang="en-US" dirty="0" smtClean="0"/>
              <a:t>6 </a:t>
            </a:r>
            <a:r>
              <a:rPr lang="bg-BG" dirty="0" smtClean="0"/>
              <a:t>или повече измерения </a:t>
            </a:r>
            <a:r>
              <a:rPr lang="ru-RU" dirty="0" smtClean="0"/>
              <a:t>класическите </a:t>
            </a:r>
            <a:r>
              <a:rPr lang="ru-RU" dirty="0"/>
              <a:t>детерминистични методи стават неефективни.</a:t>
            </a:r>
          </a:p>
          <a:p>
            <a:endParaRPr lang="ru-RU" dirty="0"/>
          </a:p>
          <a:p>
            <a:r>
              <a:rPr lang="ru-RU" dirty="0"/>
              <a:t>За добра точност е нужен много голям брой точки.</a:t>
            </a:r>
          </a:p>
          <a:p>
            <a:endParaRPr lang="ru-RU" dirty="0"/>
          </a:p>
          <a:p>
            <a:r>
              <a:rPr lang="ru-RU" dirty="0"/>
              <a:t>Броят на необходимите изчисления расте рязко с размерността.</a:t>
            </a:r>
          </a:p>
          <a:p>
            <a:endParaRPr lang="ru-RU" dirty="0"/>
          </a:p>
          <a:p>
            <a:r>
              <a:rPr lang="ru-RU" dirty="0"/>
              <a:t>Това явление е известно като </a:t>
            </a:r>
            <a:r>
              <a:rPr lang="ru-RU" b="1" dirty="0"/>
              <a:t>„проклятие на размерността“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348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Защо методът на Монте Карло?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Вместо детерминистична мрежа се използват случайни точки.</a:t>
            </a:r>
          </a:p>
          <a:p>
            <a:endParaRPr lang="ru-RU" dirty="0"/>
          </a:p>
          <a:p>
            <a:r>
              <a:rPr lang="ru-RU" dirty="0"/>
              <a:t>Интегралът се оценява чрез усредняване на стойностите на функцията.</a:t>
            </a:r>
          </a:p>
          <a:p>
            <a:endParaRPr lang="ru-RU" dirty="0"/>
          </a:p>
          <a:p>
            <a:r>
              <a:rPr lang="ru-RU" dirty="0"/>
              <a:t>Методът е особено подходящ при висока размерност.</a:t>
            </a:r>
          </a:p>
          <a:p>
            <a:endParaRPr lang="ru-RU" dirty="0"/>
          </a:p>
          <a:p>
            <a:r>
              <a:rPr lang="ru-RU" dirty="0"/>
              <a:t>Подходът е универсален и лесно приложим за различни функции.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25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Формулировка на задачата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14187" y="2214694"/>
            <a:ext cx="6163626" cy="342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71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Основна идея на алгоритъма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95575" y="2556034"/>
            <a:ext cx="68008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0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Имплементации на Monte Carlo алгоритъма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5" y="2724143"/>
            <a:ext cx="10363826" cy="3424107"/>
          </a:xfrm>
        </p:spPr>
        <p:txBody>
          <a:bodyPr/>
          <a:lstStyle/>
          <a:p>
            <a:r>
              <a:rPr lang="ru-RU" dirty="0"/>
              <a:t>Реализирани са три версии на алгоритъма:</a:t>
            </a:r>
            <a:br>
              <a:rPr lang="ru-RU" dirty="0"/>
            </a:br>
            <a:r>
              <a:rPr lang="ru-RU" dirty="0"/>
              <a:t>- </a:t>
            </a:r>
            <a:r>
              <a:rPr lang="en-US" dirty="0"/>
              <a:t>Sequential (</a:t>
            </a:r>
            <a:r>
              <a:rPr lang="bg-BG" dirty="0"/>
              <a:t>последователна)</a:t>
            </a:r>
            <a:br>
              <a:rPr lang="bg-BG" dirty="0"/>
            </a:br>
            <a:r>
              <a:rPr lang="bg-BG" dirty="0"/>
              <a:t>- </a:t>
            </a:r>
            <a:r>
              <a:rPr lang="en-US" dirty="0" err="1"/>
              <a:t>OpenMP</a:t>
            </a:r>
            <a:r>
              <a:rPr lang="en-US" dirty="0"/>
              <a:t> (</a:t>
            </a:r>
            <a:r>
              <a:rPr lang="bg-BG" dirty="0"/>
              <a:t>мултинишкова)</a:t>
            </a:r>
            <a:br>
              <a:rPr lang="bg-BG" dirty="0"/>
            </a:br>
            <a:r>
              <a:rPr lang="bg-BG" dirty="0"/>
              <a:t>- </a:t>
            </a:r>
            <a:r>
              <a:rPr lang="en-US" dirty="0"/>
              <a:t>MPI (</a:t>
            </a:r>
            <a:r>
              <a:rPr lang="bg-BG" dirty="0"/>
              <a:t>разпределена)</a:t>
            </a:r>
          </a:p>
          <a:p>
            <a:r>
              <a:rPr lang="ru-RU" dirty="0"/>
              <a:t>Всички версии използват една и съща идея:</a:t>
            </a:r>
            <a:br>
              <a:rPr lang="ru-RU" dirty="0"/>
            </a:br>
            <a:r>
              <a:rPr lang="ru-RU" dirty="0"/>
              <a:t>- </a:t>
            </a:r>
            <a:r>
              <a:rPr lang="bg-BG" dirty="0"/>
              <a:t>случайни точки + усредняване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538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Последователна (</a:t>
            </a:r>
            <a:r>
              <a:rPr lang="en-US" b="1" dirty="0"/>
              <a:t>Sequential) </a:t>
            </a:r>
            <a:r>
              <a:rPr lang="bg-BG" b="1" dirty="0"/>
              <a:t>версия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bg-BG" dirty="0"/>
              <a:t>Един процес</a:t>
            </a:r>
          </a:p>
          <a:p>
            <a:endParaRPr lang="bg-BG" dirty="0"/>
          </a:p>
          <a:p>
            <a:r>
              <a:rPr lang="bg-BG" dirty="0"/>
              <a:t>Генерира всички случайни точки</a:t>
            </a:r>
          </a:p>
          <a:p>
            <a:endParaRPr lang="bg-BG" dirty="0"/>
          </a:p>
          <a:p>
            <a:r>
              <a:rPr lang="bg-BG" dirty="0"/>
              <a:t>Изчислява сумата последователно</a:t>
            </a:r>
          </a:p>
          <a:p>
            <a:endParaRPr lang="bg-BG" dirty="0"/>
          </a:p>
          <a:p>
            <a:r>
              <a:rPr lang="ru-RU" dirty="0"/>
              <a:t>Служи като baseline за сравнение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87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OpenMP</a:t>
            </a:r>
            <a:r>
              <a:rPr lang="en-US" b="1" dirty="0"/>
              <a:t> </a:t>
            </a:r>
            <a:r>
              <a:rPr lang="bg-BG" b="1" dirty="0"/>
              <a:t>версия (мултинишкова)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bg-BG" dirty="0"/>
              <a:t>Паралелизация чрез нишки</a:t>
            </a:r>
          </a:p>
          <a:p>
            <a:endParaRPr lang="bg-BG" dirty="0"/>
          </a:p>
          <a:p>
            <a:r>
              <a:rPr lang="bg-BG" dirty="0"/>
              <a:t>Използва </a:t>
            </a:r>
            <a:r>
              <a:rPr lang="en-US" dirty="0"/>
              <a:t>shared memory</a:t>
            </a:r>
            <a:endParaRPr lang="bg-BG" dirty="0"/>
          </a:p>
          <a:p>
            <a:endParaRPr lang="bg-BG" dirty="0"/>
          </a:p>
          <a:p>
            <a:r>
              <a:rPr lang="bg-BG" dirty="0"/>
              <a:t>Всяка нишка генерира точки</a:t>
            </a:r>
          </a:p>
          <a:p>
            <a:endParaRPr lang="bg-BG" dirty="0"/>
          </a:p>
          <a:p>
            <a:r>
              <a:rPr lang="bg-BG" dirty="0"/>
              <a:t>Използва се </a:t>
            </a:r>
            <a:r>
              <a:rPr lang="en-US" dirty="0"/>
              <a:t>reduction </a:t>
            </a:r>
            <a:r>
              <a:rPr lang="bg-BG" dirty="0"/>
              <a:t>за сумата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78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MPI </a:t>
            </a:r>
            <a:r>
              <a:rPr lang="bg-BG" b="1" dirty="0"/>
              <a:t>версия (разпределена памет)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bg-BG" dirty="0"/>
              <a:t>Паралелизация чрез процеси</a:t>
            </a:r>
          </a:p>
          <a:p>
            <a:endParaRPr lang="bg-BG" dirty="0"/>
          </a:p>
          <a:p>
            <a:r>
              <a:rPr lang="bg-BG" dirty="0"/>
              <a:t>Всеки процес работи независимо</a:t>
            </a:r>
          </a:p>
          <a:p>
            <a:endParaRPr lang="bg-BG" dirty="0"/>
          </a:p>
          <a:p>
            <a:r>
              <a:rPr lang="bg-BG" dirty="0"/>
              <a:t>Всеки има собствен генератор</a:t>
            </a:r>
          </a:p>
          <a:p>
            <a:endParaRPr lang="bg-BG" dirty="0"/>
          </a:p>
          <a:p>
            <a:r>
              <a:rPr lang="bg-BG" dirty="0"/>
              <a:t>Резултатите се обединяват с </a:t>
            </a:r>
            <a:r>
              <a:rPr lang="en-US" dirty="0" err="1"/>
              <a:t>MPI_Reduce</a:t>
            </a:r>
            <a:endParaRPr lang="en-US" dirty="0"/>
          </a:p>
          <a:p>
            <a:endParaRPr lang="bg-BG" dirty="0"/>
          </a:p>
          <a:p>
            <a:endParaRPr lang="bg-B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5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1596177"/>
          </a:xfrm>
        </p:spPr>
        <p:txBody>
          <a:bodyPr/>
          <a:lstStyle/>
          <a:p>
            <a:r>
              <a:rPr lang="bg-BG" b="1" dirty="0"/>
              <a:t>Тестови функции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70709" y="1972278"/>
            <a:ext cx="5425290" cy="10021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9" y="4044396"/>
            <a:ext cx="6018530" cy="1138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1182CC-5B61-4D56-FA3E-B426A1EE579D}"/>
              </a:ext>
            </a:extLst>
          </p:cNvPr>
          <p:cNvSpPr txBox="1"/>
          <p:nvPr/>
        </p:nvSpPr>
        <p:spPr>
          <a:xfrm>
            <a:off x="6674268" y="1674964"/>
            <a:ext cx="3911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Използва се за проверка на точността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Има известна точна стойност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Използвана в local correctness и Grid</a:t>
            </a:r>
            <a:r>
              <a:rPr lang="en-US" b="1" dirty="0"/>
              <a:t> </a:t>
            </a:r>
            <a:r>
              <a:rPr lang="ru-RU" b="1" dirty="0"/>
              <a:t>5000 correctness тестовете</a:t>
            </a:r>
            <a:endParaRPr lang="bg-BG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CE1D3-C850-5E6C-1847-6C1CA67C20A2}"/>
              </a:ext>
            </a:extLst>
          </p:cNvPr>
          <p:cNvSpPr txBox="1"/>
          <p:nvPr/>
        </p:nvSpPr>
        <p:spPr>
          <a:xfrm>
            <a:off x="6674268" y="4044396"/>
            <a:ext cx="4155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/>
              <a:t>Използва се за </a:t>
            </a:r>
            <a:r>
              <a:rPr lang="en-US" b="1" dirty="0"/>
              <a:t>performance/scaling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/>
              <a:t>Използвана в </a:t>
            </a:r>
            <a:r>
              <a:rPr lang="en-US" b="1" dirty="0"/>
              <a:t>OpenMP, MPI </a:t>
            </a:r>
            <a:r>
              <a:rPr lang="bg-BG" b="1" dirty="0"/>
              <a:t>и </a:t>
            </a:r>
            <a:r>
              <a:rPr lang="en-US" b="1" dirty="0"/>
              <a:t>Grid’5000 scaling </a:t>
            </a:r>
            <a:r>
              <a:rPr lang="bg-BG" b="1" dirty="0"/>
              <a:t>тестовете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254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Цели на експериментите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bg-BG" dirty="0"/>
              <a:t>Проверка на точността (</a:t>
            </a:r>
            <a:r>
              <a:rPr lang="en-US" dirty="0"/>
              <a:t>error)</a:t>
            </a:r>
            <a:endParaRPr lang="bg-BG" dirty="0"/>
          </a:p>
          <a:p>
            <a:r>
              <a:rPr lang="ru-RU" dirty="0"/>
              <a:t>Измерване на време за изпълнение</a:t>
            </a:r>
          </a:p>
          <a:p>
            <a:r>
              <a:rPr lang="bg-BG" dirty="0"/>
              <a:t>Сравнение между:</a:t>
            </a:r>
            <a:br>
              <a:rPr lang="bg-BG" dirty="0"/>
            </a:br>
            <a:r>
              <a:rPr lang="bg-BG" dirty="0"/>
              <a:t>- </a:t>
            </a:r>
            <a:r>
              <a:rPr lang="en-US" dirty="0"/>
              <a:t>Sequential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>- </a:t>
            </a:r>
            <a:r>
              <a:rPr lang="en-US" dirty="0" err="1"/>
              <a:t>OpenMP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>- </a:t>
            </a:r>
            <a:r>
              <a:rPr lang="en-US" dirty="0"/>
              <a:t>MPI</a:t>
            </a:r>
            <a:endParaRPr lang="bg-BG" dirty="0"/>
          </a:p>
          <a:p>
            <a:r>
              <a:rPr lang="bg-BG" dirty="0"/>
              <a:t>Изследване на мащабируемост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940" y="2884677"/>
            <a:ext cx="291465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22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560180"/>
            <a:ext cx="10364451" cy="5572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Accuracy - </a:t>
            </a:r>
            <a:r>
              <a:rPr lang="bg-BG" b="1" dirty="0"/>
              <a:t>функция </a:t>
            </a:r>
            <a:r>
              <a:rPr lang="en-US" b="1" dirty="0"/>
              <a:t>Product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95062228"/>
              </p:ext>
            </p:extLst>
          </p:nvPr>
        </p:nvGraphicFramePr>
        <p:xfrm>
          <a:off x="915025" y="3078580"/>
          <a:ext cx="10363200" cy="146304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11682400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90406691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5566909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907494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Estimate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021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Sequential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0.015632697786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0.015625000000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0.000007697786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05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OpenMP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0.015632697786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0.015625000000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0.000007697786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091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0.015632697786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0.015625000000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0.000007697786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9152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7AD42C-5450-D917-B657-25871C00AEEA}"/>
              </a:ext>
            </a:extLst>
          </p:cNvPr>
          <p:cNvSpPr txBox="1"/>
          <p:nvPr/>
        </p:nvSpPr>
        <p:spPr>
          <a:xfrm>
            <a:off x="847899" y="1935641"/>
            <a:ext cx="719882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Локално</a:t>
            </a:r>
            <a:r>
              <a:rPr lang="en-US" sz="2400" dirty="0"/>
              <a:t>.</a:t>
            </a:r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r>
              <a:rPr lang="bg-BG" sz="2400" b="1" dirty="0"/>
              <a:t>Извод</a:t>
            </a:r>
            <a:r>
              <a:rPr lang="bg-BG" sz="2400" dirty="0"/>
              <a:t>: </a:t>
            </a:r>
            <a:r>
              <a:rPr lang="ru-RU" sz="2400" dirty="0"/>
              <a:t>Трите реализации дават еднаква числена оценка при еднакви входни параметри.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440035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567" y="577877"/>
            <a:ext cx="11572865" cy="641323"/>
          </a:xfrm>
        </p:spPr>
        <p:txBody>
          <a:bodyPr/>
          <a:lstStyle/>
          <a:p>
            <a:r>
              <a:rPr lang="en-US" b="1" dirty="0"/>
              <a:t>Consistency check </a:t>
            </a:r>
            <a:r>
              <a:rPr lang="bg-BG" b="1" dirty="0"/>
              <a:t>- </a:t>
            </a:r>
            <a:r>
              <a:rPr lang="en-US" b="1" dirty="0"/>
              <a:t>EXPONENTIAL Function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94193180"/>
              </p:ext>
            </p:extLst>
          </p:nvPr>
        </p:nvGraphicFramePr>
        <p:xfrm>
          <a:off x="915026" y="3118883"/>
          <a:ext cx="10363200" cy="146304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127988784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552755140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07588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Estimate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Time(s)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20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Sequential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0.173496000196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0.458280735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377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OpenMP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0.173496000196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0.466208218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96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0.173496000196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0.474199694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21828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7DEBA36-43B7-F216-FB1E-412A0A551562}"/>
              </a:ext>
            </a:extLst>
          </p:cNvPr>
          <p:cNvSpPr txBox="1"/>
          <p:nvPr/>
        </p:nvSpPr>
        <p:spPr>
          <a:xfrm>
            <a:off x="913775" y="2482122"/>
            <a:ext cx="9290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Локално</a:t>
            </a:r>
            <a:r>
              <a:rPr lang="bg-BG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A6FF1A-1938-3627-8F5A-E1C70C052515}"/>
              </a:ext>
            </a:extLst>
          </p:cNvPr>
          <p:cNvSpPr txBox="1"/>
          <p:nvPr/>
        </p:nvSpPr>
        <p:spPr>
          <a:xfrm>
            <a:off x="913775" y="4843470"/>
            <a:ext cx="1023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Експоненциалната</a:t>
            </a:r>
            <a:r>
              <a:rPr lang="ru-RU" dirty="0"/>
              <a:t> функция няма използвана точна стойност, затова тук сравняваме съгласуваността между реализациите.</a:t>
            </a:r>
          </a:p>
          <a:p>
            <a:endParaRPr lang="ru-RU" dirty="0"/>
          </a:p>
          <a:p>
            <a:r>
              <a:rPr lang="ru-RU" dirty="0"/>
              <a:t>Наблюдаваме, че резултатите са консистентни между всички реализации.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15435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577877"/>
            <a:ext cx="10364451" cy="742923"/>
          </a:xfrm>
        </p:spPr>
        <p:txBody>
          <a:bodyPr/>
          <a:lstStyle/>
          <a:p>
            <a:r>
              <a:rPr lang="en-US" b="1" dirty="0"/>
              <a:t>Local scaling </a:t>
            </a:r>
            <a:r>
              <a:rPr lang="bg-BG" b="1" dirty="0"/>
              <a:t>-</a:t>
            </a:r>
            <a:r>
              <a:rPr lang="en-US" b="1" dirty="0"/>
              <a:t> Exponential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12532624"/>
              </p:ext>
            </p:extLst>
          </p:nvPr>
        </p:nvGraphicFramePr>
        <p:xfrm>
          <a:off x="991413" y="1938178"/>
          <a:ext cx="7712640" cy="1828800"/>
        </p:xfrm>
        <a:graphic>
          <a:graphicData uri="http://schemas.openxmlformats.org/drawingml/2006/table">
            <a:tbl>
              <a:tblPr/>
              <a:tblGrid>
                <a:gridCol w="1928160">
                  <a:extLst>
                    <a:ext uri="{9D8B030D-6E8A-4147-A177-3AD203B41FA5}">
                      <a16:colId xmlns:a16="http://schemas.microsoft.com/office/drawing/2014/main" val="693296343"/>
                    </a:ext>
                  </a:extLst>
                </a:gridCol>
                <a:gridCol w="1928160">
                  <a:extLst>
                    <a:ext uri="{9D8B030D-6E8A-4147-A177-3AD203B41FA5}">
                      <a16:colId xmlns:a16="http://schemas.microsoft.com/office/drawing/2014/main" val="1807912578"/>
                    </a:ext>
                  </a:extLst>
                </a:gridCol>
                <a:gridCol w="1928160">
                  <a:extLst>
                    <a:ext uri="{9D8B030D-6E8A-4147-A177-3AD203B41FA5}">
                      <a16:colId xmlns:a16="http://schemas.microsoft.com/office/drawing/2014/main" val="1238140468"/>
                    </a:ext>
                  </a:extLst>
                </a:gridCol>
                <a:gridCol w="1928160">
                  <a:extLst>
                    <a:ext uri="{9D8B030D-6E8A-4147-A177-3AD203B41FA5}">
                      <a16:colId xmlns:a16="http://schemas.microsoft.com/office/drawing/2014/main" val="1966003869"/>
                    </a:ext>
                  </a:extLst>
                </a:gridCol>
              </a:tblGrid>
              <a:tr h="3323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Threads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Speedup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154993"/>
                  </a:ext>
                </a:extLst>
              </a:tr>
              <a:tr h="332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0.48562551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9630021"/>
                  </a:ext>
                </a:extLst>
              </a:tr>
              <a:tr h="332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0.249344862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030359"/>
                  </a:ext>
                </a:extLst>
              </a:tr>
              <a:tr h="332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0.160693319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450717"/>
                  </a:ext>
                </a:extLst>
              </a:tr>
              <a:tr h="332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0.087099653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5.575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85089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E6D7E3A-0387-03D6-1589-E6873B9580EE}"/>
              </a:ext>
            </a:extLst>
          </p:cNvPr>
          <p:cNvSpPr txBox="1"/>
          <p:nvPr/>
        </p:nvSpPr>
        <p:spPr>
          <a:xfrm>
            <a:off x="913775" y="1444823"/>
            <a:ext cx="314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OpenMP </a:t>
            </a:r>
            <a:r>
              <a:rPr lang="bg-BG" b="1" dirty="0"/>
              <a:t>таблица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D6C26-261D-0C97-BFE8-58883F3C3096}"/>
              </a:ext>
            </a:extLst>
          </p:cNvPr>
          <p:cNvSpPr txBox="1"/>
          <p:nvPr/>
        </p:nvSpPr>
        <p:spPr>
          <a:xfrm>
            <a:off x="913774" y="4015024"/>
            <a:ext cx="314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MPI </a:t>
            </a:r>
            <a:r>
              <a:rPr lang="bg-BG" b="1" dirty="0"/>
              <a:t>таблица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CBC9D7-7C3A-F29B-50CA-9573D9FDE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853786"/>
              </p:ext>
            </p:extLst>
          </p:nvPr>
        </p:nvGraphicFramePr>
        <p:xfrm>
          <a:off x="991412" y="4681657"/>
          <a:ext cx="7712640" cy="1463040"/>
        </p:xfrm>
        <a:graphic>
          <a:graphicData uri="http://schemas.openxmlformats.org/drawingml/2006/table">
            <a:tbl>
              <a:tblPr/>
              <a:tblGrid>
                <a:gridCol w="1928160">
                  <a:extLst>
                    <a:ext uri="{9D8B030D-6E8A-4147-A177-3AD203B41FA5}">
                      <a16:colId xmlns:a16="http://schemas.microsoft.com/office/drawing/2014/main" val="3958443002"/>
                    </a:ext>
                  </a:extLst>
                </a:gridCol>
                <a:gridCol w="1928160">
                  <a:extLst>
                    <a:ext uri="{9D8B030D-6E8A-4147-A177-3AD203B41FA5}">
                      <a16:colId xmlns:a16="http://schemas.microsoft.com/office/drawing/2014/main" val="4276760708"/>
                    </a:ext>
                  </a:extLst>
                </a:gridCol>
                <a:gridCol w="1928160">
                  <a:extLst>
                    <a:ext uri="{9D8B030D-6E8A-4147-A177-3AD203B41FA5}">
                      <a16:colId xmlns:a16="http://schemas.microsoft.com/office/drawing/2014/main" val="1902818771"/>
                    </a:ext>
                  </a:extLst>
                </a:gridCol>
                <a:gridCol w="1928160">
                  <a:extLst>
                    <a:ext uri="{9D8B030D-6E8A-4147-A177-3AD203B41FA5}">
                      <a16:colId xmlns:a16="http://schemas.microsoft.com/office/drawing/2014/main" val="161882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Speedup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881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0.474322061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3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0.246290638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1.926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0.963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45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0.158890886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2.985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0.746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658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5701D09-364C-FF27-8A57-246C92013E54}"/>
              </a:ext>
            </a:extLst>
          </p:cNvPr>
          <p:cNvSpPr txBox="1"/>
          <p:nvPr/>
        </p:nvSpPr>
        <p:spPr>
          <a:xfrm>
            <a:off x="9164755" y="4813012"/>
            <a:ext cx="2731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MPI</a:t>
            </a:r>
            <a:r>
              <a:rPr lang="en-US" dirty="0"/>
              <a:t> </a:t>
            </a:r>
            <a:r>
              <a:rPr lang="bg-BG" dirty="0"/>
              <a:t>с 8 процеса не е наличен заради недостатъчно локален ресурс.</a:t>
            </a:r>
          </a:p>
        </p:txBody>
      </p:sp>
    </p:spTree>
    <p:extLst>
      <p:ext uri="{BB962C8B-B14F-4D97-AF65-F5344CB8AC3E}">
        <p14:creationId xmlns:p14="http://schemas.microsoft.com/office/powerpoint/2010/main" val="3936496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5BDB-F2EC-C179-28C3-F4002CAF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506" y="425861"/>
            <a:ext cx="9066987" cy="589181"/>
          </a:xfrm>
        </p:spPr>
        <p:txBody>
          <a:bodyPr/>
          <a:lstStyle/>
          <a:p>
            <a:r>
              <a:rPr lang="en-US" b="1" dirty="0"/>
              <a:t>Grid</a:t>
            </a:r>
            <a:r>
              <a:rPr lang="bg-BG" b="1" dirty="0"/>
              <a:t> </a:t>
            </a:r>
            <a:r>
              <a:rPr lang="en-US" b="1" dirty="0"/>
              <a:t>5000 correctness </a:t>
            </a:r>
            <a:r>
              <a:rPr lang="bg-BG" b="1" dirty="0"/>
              <a:t>-</a:t>
            </a:r>
            <a:r>
              <a:rPr lang="en-US" b="1" dirty="0"/>
              <a:t> Product</a:t>
            </a:r>
            <a:endParaRPr lang="bg-B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A01C39-11E8-C7D2-389A-7A8CFC2B9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772468"/>
              </p:ext>
            </p:extLst>
          </p:nvPr>
        </p:nvGraphicFramePr>
        <p:xfrm>
          <a:off x="212783" y="1940944"/>
          <a:ext cx="11766432" cy="2775278"/>
        </p:xfrm>
        <a:graphic>
          <a:graphicData uri="http://schemas.openxmlformats.org/drawingml/2006/table">
            <a:tbl>
              <a:tblPr/>
              <a:tblGrid>
                <a:gridCol w="1961072">
                  <a:extLst>
                    <a:ext uri="{9D8B030D-6E8A-4147-A177-3AD203B41FA5}">
                      <a16:colId xmlns:a16="http://schemas.microsoft.com/office/drawing/2014/main" val="3626441178"/>
                    </a:ext>
                  </a:extLst>
                </a:gridCol>
                <a:gridCol w="1961072">
                  <a:extLst>
                    <a:ext uri="{9D8B030D-6E8A-4147-A177-3AD203B41FA5}">
                      <a16:colId xmlns:a16="http://schemas.microsoft.com/office/drawing/2014/main" val="699813651"/>
                    </a:ext>
                  </a:extLst>
                </a:gridCol>
                <a:gridCol w="1961072">
                  <a:extLst>
                    <a:ext uri="{9D8B030D-6E8A-4147-A177-3AD203B41FA5}">
                      <a16:colId xmlns:a16="http://schemas.microsoft.com/office/drawing/2014/main" val="2129927536"/>
                    </a:ext>
                  </a:extLst>
                </a:gridCol>
                <a:gridCol w="1961072">
                  <a:extLst>
                    <a:ext uri="{9D8B030D-6E8A-4147-A177-3AD203B41FA5}">
                      <a16:colId xmlns:a16="http://schemas.microsoft.com/office/drawing/2014/main" val="1282284344"/>
                    </a:ext>
                  </a:extLst>
                </a:gridCol>
                <a:gridCol w="1961072">
                  <a:extLst>
                    <a:ext uri="{9D8B030D-6E8A-4147-A177-3AD203B41FA5}">
                      <a16:colId xmlns:a16="http://schemas.microsoft.com/office/drawing/2014/main" val="3388105336"/>
                    </a:ext>
                  </a:extLst>
                </a:gridCol>
                <a:gridCol w="1961072">
                  <a:extLst>
                    <a:ext uri="{9D8B030D-6E8A-4147-A177-3AD203B41FA5}">
                      <a16:colId xmlns:a16="http://schemas.microsoft.com/office/drawing/2014/main" val="64031193"/>
                    </a:ext>
                  </a:extLst>
                </a:gridCol>
              </a:tblGrid>
              <a:tr h="444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Dimensions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Estimate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Exact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953533"/>
                  </a:ext>
                </a:extLst>
              </a:tr>
              <a:tr h="777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0.015625508473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0.015625000000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0.000000508473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785226"/>
                  </a:ext>
                </a:extLst>
              </a:tr>
              <a:tr h="777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0.015605028914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0.015625000000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0.000019971086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888194"/>
                  </a:ext>
                </a:extLst>
              </a:tr>
              <a:tr h="7770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10,000,000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0.015623342591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0.015625000000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0.000001657409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415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795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A0A9-C5B4-98DF-6B28-4FB27870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29379"/>
            <a:ext cx="10628369" cy="5460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Grid 5000 performance – 6 and 10 dimensions</a:t>
            </a:r>
            <a:endParaRPr lang="bg-BG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4AAA4E-B093-1ADB-192C-8C69418A7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993443"/>
              </p:ext>
            </p:extLst>
          </p:nvPr>
        </p:nvGraphicFramePr>
        <p:xfrm>
          <a:off x="913774" y="1887501"/>
          <a:ext cx="6768860" cy="1828800"/>
        </p:xfrm>
        <a:graphic>
          <a:graphicData uri="http://schemas.openxmlformats.org/drawingml/2006/table">
            <a:tbl>
              <a:tblPr/>
              <a:tblGrid>
                <a:gridCol w="1692215">
                  <a:extLst>
                    <a:ext uri="{9D8B030D-6E8A-4147-A177-3AD203B41FA5}">
                      <a16:colId xmlns:a16="http://schemas.microsoft.com/office/drawing/2014/main" val="3350047352"/>
                    </a:ext>
                  </a:extLst>
                </a:gridCol>
                <a:gridCol w="1692215">
                  <a:extLst>
                    <a:ext uri="{9D8B030D-6E8A-4147-A177-3AD203B41FA5}">
                      <a16:colId xmlns:a16="http://schemas.microsoft.com/office/drawing/2014/main" val="1704311558"/>
                    </a:ext>
                  </a:extLst>
                </a:gridCol>
                <a:gridCol w="1692215">
                  <a:extLst>
                    <a:ext uri="{9D8B030D-6E8A-4147-A177-3AD203B41FA5}">
                      <a16:colId xmlns:a16="http://schemas.microsoft.com/office/drawing/2014/main" val="1293095067"/>
                    </a:ext>
                  </a:extLst>
                </a:gridCol>
                <a:gridCol w="1692215">
                  <a:extLst>
                    <a:ext uri="{9D8B030D-6E8A-4147-A177-3AD203B41FA5}">
                      <a16:colId xmlns:a16="http://schemas.microsoft.com/office/drawing/2014/main" val="2269636421"/>
                    </a:ext>
                  </a:extLst>
                </a:gridCol>
              </a:tblGrid>
              <a:tr h="335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Speedup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851268"/>
                  </a:ext>
                </a:extLst>
              </a:tr>
              <a:tr h="335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0.819915985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332811"/>
                  </a:ext>
                </a:extLst>
              </a:tr>
              <a:tr h="335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0.413047312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1.985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0.993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494573"/>
                  </a:ext>
                </a:extLst>
              </a:tr>
              <a:tr h="335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0.219783319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3.731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0.933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47626"/>
                  </a:ext>
                </a:extLst>
              </a:tr>
              <a:tr h="335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0.143309479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5.721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0.715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186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03B47A-D8C4-2D28-6132-52D23379F331}"/>
              </a:ext>
            </a:extLst>
          </p:cNvPr>
          <p:cNvSpPr txBox="1"/>
          <p:nvPr/>
        </p:nvSpPr>
        <p:spPr>
          <a:xfrm>
            <a:off x="8276234" y="2340236"/>
            <a:ext cx="3001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Времето намалява от </a:t>
            </a:r>
            <a:r>
              <a:rPr lang="ru-RU" b="1" dirty="0"/>
              <a:t>0.820</a:t>
            </a:r>
            <a:r>
              <a:rPr lang="ru-RU" dirty="0"/>
              <a:t> </a:t>
            </a:r>
            <a:r>
              <a:rPr lang="en-US" dirty="0"/>
              <a:t>s</a:t>
            </a:r>
            <a:r>
              <a:rPr lang="ru-RU" dirty="0"/>
              <a:t> до </a:t>
            </a:r>
            <a:r>
              <a:rPr lang="ru-RU" b="1" dirty="0"/>
              <a:t>0.143</a:t>
            </a:r>
            <a:r>
              <a:rPr lang="ru-RU" dirty="0"/>
              <a:t> s при 8 процеса.</a:t>
            </a:r>
            <a:endParaRPr lang="bg-B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76D46-B8AD-C25A-27C3-56536AFECFF7}"/>
              </a:ext>
            </a:extLst>
          </p:cNvPr>
          <p:cNvSpPr txBox="1"/>
          <p:nvPr/>
        </p:nvSpPr>
        <p:spPr>
          <a:xfrm>
            <a:off x="913774" y="1423439"/>
            <a:ext cx="453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 Dimensions</a:t>
            </a:r>
            <a:endParaRPr lang="bg-BG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0B59D-B72E-A987-F5D5-FFA593033871}"/>
              </a:ext>
            </a:extLst>
          </p:cNvPr>
          <p:cNvSpPr txBox="1"/>
          <p:nvPr/>
        </p:nvSpPr>
        <p:spPr>
          <a:xfrm>
            <a:off x="913774" y="3965356"/>
            <a:ext cx="4537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Dimensions</a:t>
            </a:r>
            <a:endParaRPr lang="bg-BG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22AF77-0F8E-3D34-17F8-0445ECA12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010265"/>
              </p:ext>
            </p:extLst>
          </p:nvPr>
        </p:nvGraphicFramePr>
        <p:xfrm>
          <a:off x="913774" y="4583743"/>
          <a:ext cx="6745488" cy="1828800"/>
        </p:xfrm>
        <a:graphic>
          <a:graphicData uri="http://schemas.openxmlformats.org/drawingml/2006/table">
            <a:tbl>
              <a:tblPr/>
              <a:tblGrid>
                <a:gridCol w="1686372">
                  <a:extLst>
                    <a:ext uri="{9D8B030D-6E8A-4147-A177-3AD203B41FA5}">
                      <a16:colId xmlns:a16="http://schemas.microsoft.com/office/drawing/2014/main" val="3469475992"/>
                    </a:ext>
                  </a:extLst>
                </a:gridCol>
                <a:gridCol w="1686372">
                  <a:extLst>
                    <a:ext uri="{9D8B030D-6E8A-4147-A177-3AD203B41FA5}">
                      <a16:colId xmlns:a16="http://schemas.microsoft.com/office/drawing/2014/main" val="2877179557"/>
                    </a:ext>
                  </a:extLst>
                </a:gridCol>
                <a:gridCol w="1686372">
                  <a:extLst>
                    <a:ext uri="{9D8B030D-6E8A-4147-A177-3AD203B41FA5}">
                      <a16:colId xmlns:a16="http://schemas.microsoft.com/office/drawing/2014/main" val="4265590112"/>
                    </a:ext>
                  </a:extLst>
                </a:gridCol>
                <a:gridCol w="1686372">
                  <a:extLst>
                    <a:ext uri="{9D8B030D-6E8A-4147-A177-3AD203B41FA5}">
                      <a16:colId xmlns:a16="http://schemas.microsoft.com/office/drawing/2014/main" val="56509307"/>
                    </a:ext>
                  </a:extLst>
                </a:gridCol>
              </a:tblGrid>
              <a:tr h="28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Speedup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079314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1.36079743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246042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0.701293593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1.940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0.970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434074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0.362728245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3.752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/>
                        <a:t>0.938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417945"/>
                  </a:ext>
                </a:extLst>
              </a:tr>
              <a:tr h="287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0.22671296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6.002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/>
                        <a:t>0.750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7733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4E07484-26FB-D85A-BF2B-01A1C26D4ED3}"/>
              </a:ext>
            </a:extLst>
          </p:cNvPr>
          <p:cNvSpPr txBox="1"/>
          <p:nvPr/>
        </p:nvSpPr>
        <p:spPr>
          <a:xfrm>
            <a:off x="8136332" y="4916012"/>
            <a:ext cx="40521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по-голяма размерност времето е по-голямо, но мащабируемостта остава добра.</a:t>
            </a:r>
          </a:p>
        </p:txBody>
      </p:sp>
    </p:spTree>
    <p:extLst>
      <p:ext uri="{BB962C8B-B14F-4D97-AF65-F5344CB8AC3E}">
        <p14:creationId xmlns:p14="http://schemas.microsoft.com/office/powerpoint/2010/main" val="213075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ЗАКЛЮЧЕНИЕ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01963" y="2108299"/>
            <a:ext cx="7902422" cy="2187655"/>
          </a:xfrm>
        </p:spPr>
        <p:txBody>
          <a:bodyPr>
            <a:normAutofit fontScale="62500" lnSpcReduction="20000"/>
          </a:bodyPr>
          <a:lstStyle/>
          <a:p>
            <a:r>
              <a:rPr lang="bg-BG" dirty="0"/>
              <a:t>Реализирани са </a:t>
            </a:r>
            <a:r>
              <a:rPr lang="en-US" b="1" dirty="0"/>
              <a:t>Sequential</a:t>
            </a:r>
            <a:r>
              <a:rPr lang="en-US" dirty="0"/>
              <a:t>, </a:t>
            </a:r>
            <a:r>
              <a:rPr lang="en-US" b="1" dirty="0"/>
              <a:t>OpenMP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b="1" dirty="0"/>
              <a:t>MPI</a:t>
            </a:r>
            <a:r>
              <a:rPr lang="en-US" dirty="0"/>
              <a:t> </a:t>
            </a:r>
            <a:r>
              <a:rPr lang="bg-BG" dirty="0"/>
              <a:t>версии на </a:t>
            </a:r>
            <a:r>
              <a:rPr lang="en-US" dirty="0"/>
              <a:t>Monte Carlo </a:t>
            </a:r>
            <a:r>
              <a:rPr lang="bg-BG" dirty="0"/>
              <a:t>интегриране. </a:t>
            </a:r>
          </a:p>
          <a:p>
            <a:r>
              <a:rPr lang="en-US" b="1" dirty="0"/>
              <a:t>Product</a:t>
            </a:r>
            <a:r>
              <a:rPr lang="en-US" dirty="0"/>
              <a:t> </a:t>
            </a:r>
            <a:r>
              <a:rPr lang="bg-BG" dirty="0"/>
              <a:t>функцията потвърждава коректността чрез сравнение с точна стойност. </a:t>
            </a:r>
          </a:p>
          <a:p>
            <a:r>
              <a:rPr lang="en-US" b="1" dirty="0"/>
              <a:t>Exponential</a:t>
            </a:r>
            <a:r>
              <a:rPr lang="en-US" dirty="0"/>
              <a:t> </a:t>
            </a:r>
            <a:r>
              <a:rPr lang="bg-BG" dirty="0"/>
              <a:t>функцията е използвана за тестове за производително и мащабируемост. </a:t>
            </a:r>
          </a:p>
          <a:p>
            <a:r>
              <a:rPr lang="en-US" dirty="0"/>
              <a:t>Grid</a:t>
            </a:r>
            <a:r>
              <a:rPr lang="bg-BG" dirty="0"/>
              <a:t> </a:t>
            </a:r>
            <a:r>
              <a:rPr lang="en-US" dirty="0"/>
              <a:t>5000 MPI </a:t>
            </a:r>
            <a:r>
              <a:rPr lang="bg-BG" dirty="0"/>
              <a:t>тестовете показват ускорение</a:t>
            </a:r>
            <a:r>
              <a:rPr lang="en-US" dirty="0"/>
              <a:t> </a:t>
            </a:r>
            <a:r>
              <a:rPr lang="bg-BG" dirty="0"/>
              <a:t>до </a:t>
            </a:r>
            <a:r>
              <a:rPr lang="bg-BG" b="1" dirty="0"/>
              <a:t>5.721</a:t>
            </a:r>
            <a:r>
              <a:rPr lang="bg-BG" dirty="0"/>
              <a:t> при </a:t>
            </a:r>
            <a:r>
              <a:rPr lang="en-US" dirty="0"/>
              <a:t>d=6 </a:t>
            </a:r>
            <a:r>
              <a:rPr lang="bg-BG" dirty="0"/>
              <a:t>и </a:t>
            </a:r>
            <a:r>
              <a:rPr lang="bg-BG" b="1" dirty="0"/>
              <a:t>6.002</a:t>
            </a:r>
            <a:r>
              <a:rPr lang="bg-BG" dirty="0"/>
              <a:t> при </a:t>
            </a:r>
            <a:r>
              <a:rPr lang="en-US" dirty="0"/>
              <a:t>d=10. </a:t>
            </a:r>
            <a:endParaRPr lang="bg-BG" dirty="0"/>
          </a:p>
          <a:p>
            <a:r>
              <a:rPr lang="bg-BG" dirty="0"/>
              <a:t>Ефективността</a:t>
            </a:r>
            <a:r>
              <a:rPr lang="en-US" dirty="0"/>
              <a:t> </a:t>
            </a:r>
            <a:r>
              <a:rPr lang="bg-BG" dirty="0"/>
              <a:t>намалява при повече процеси поради </a:t>
            </a:r>
            <a:r>
              <a:rPr lang="en-US" dirty="0"/>
              <a:t>overhead, </a:t>
            </a:r>
            <a:r>
              <a:rPr lang="bg-BG" dirty="0"/>
              <a:t>но резултатите показват добра скалируемост.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9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86" y="2497194"/>
            <a:ext cx="10364451" cy="1596177"/>
          </a:xfrm>
        </p:spPr>
        <p:txBody>
          <a:bodyPr/>
          <a:lstStyle/>
          <a:p>
            <a:r>
              <a:rPr lang="bg-BG" b="1" dirty="0"/>
              <a:t>Благодарим за вниманието!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432392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217</TotalTime>
  <Words>612</Words>
  <Application>Microsoft Office PowerPoint</Application>
  <PresentationFormat>Widescreen</PresentationFormat>
  <Paragraphs>225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Droplet</vt:lpstr>
      <vt:lpstr>Методи на Монте Карло - Интеграли на произволни   функции с 6 и повече измерения </vt:lpstr>
      <vt:lpstr>Въведение</vt:lpstr>
      <vt:lpstr>Проблем при интеграли с 6+ измерения</vt:lpstr>
      <vt:lpstr>Защо методът на Монте Карло?</vt:lpstr>
      <vt:lpstr>Формулировка на задачата</vt:lpstr>
      <vt:lpstr>Основна идея на алгоритъма</vt:lpstr>
      <vt:lpstr>Имплементации на Monte Carlo алгоритъма</vt:lpstr>
      <vt:lpstr>Последователна (Sequential) версия</vt:lpstr>
      <vt:lpstr>OpenMP версия (мултинишкова)</vt:lpstr>
      <vt:lpstr>MPI версия (разпределена памет)</vt:lpstr>
      <vt:lpstr>Тестови функции</vt:lpstr>
      <vt:lpstr>Цели на експериментите</vt:lpstr>
      <vt:lpstr>Accuracy - функция Product</vt:lpstr>
      <vt:lpstr>Consistency check - EXPONENTIAL Function</vt:lpstr>
      <vt:lpstr>Local scaling - Exponential</vt:lpstr>
      <vt:lpstr>Grid 5000 correctness - Product</vt:lpstr>
      <vt:lpstr>Grid 5000 performance – 6 and 10 dimensions</vt:lpstr>
      <vt:lpstr>ЗАКЛЮЧЕНИЕ</vt:lpstr>
      <vt:lpstr>Благодарим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 на Монте Карло - Интеграли на произволни   функции с 6 и повече измерения</dc:title>
  <dc:creator>Martin</dc:creator>
  <cp:lastModifiedBy>Martin</cp:lastModifiedBy>
  <cp:revision>10</cp:revision>
  <dcterms:created xsi:type="dcterms:W3CDTF">2026-04-15T13:12:56Z</dcterms:created>
  <dcterms:modified xsi:type="dcterms:W3CDTF">2026-05-10T11:23:49Z</dcterms:modified>
</cp:coreProperties>
</file>